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A6940"/>
        </a:solidFill>
        <a:effectLst/>
      </p:bgPr>
    </p:bg>
    <p:spTree>
      <p:nvGrpSpPr>
        <p:cNvPr id="1" name=""/>
        <p:cNvGrpSpPr/>
        <p:nvPr/>
      </p:nvGrpSpPr>
      <p:grpSpPr/>
      <p:sp>
        <p:nvSpPr>
          <p:cNvPr id="2" name="TextBox 1"/>
          <p:cNvSpPr txBox="1"/>
          <p:nvPr/>
        </p:nvSpPr>
        <p:spPr>
          <a:xfrm>
            <a:off x="731520" y="1188720"/>
            <a:ext cx="10789920" cy="1828800"/>
          </a:xfrm>
          <a:prstGeom prst="rect">
            <a:avLst/>
          </a:prstGeom>
          <a:noFill/>
        </p:spPr>
        <p:txBody>
          <a:bodyPr wrap="none">
            <a:spAutoFit/>
          </a:bodyPr>
          <a:lstStyle/>
          <a:p>
            <a:r>
              <a:rPr sz="3400" b="1">
                <a:solidFill>
                  <a:srgbClr val="FFFFFF"/>
                </a:solidFill>
              </a:rPr>
              <a:t>Agricultural Yield &amp; Farmer Advisory</a:t>
            </a:r>
          </a:p>
          <a:p>
            <a:r>
              <a:rPr sz="2200">
                <a:solidFill>
                  <a:srgbClr val="FFFFFF"/>
                </a:solidFill>
              </a:rPr>
              <a:t>A CRISP-DM decision-support project</a:t>
            </a:r>
          </a:p>
          <a:p>
            <a:r>
              <a:rPr sz="1700">
                <a:solidFill>
                  <a:srgbClr val="FFFFFF"/>
                </a:solidFill>
              </a:rPr>
              <a:t>Presentation for a non-technical stakeholder team</a:t>
            </a:r>
          </a:p>
        </p:txBody>
      </p:sp>
      <p:sp>
        <p:nvSpPr>
          <p:cNvPr id="3" name="Rounded Rectangle 2"/>
          <p:cNvSpPr/>
          <p:nvPr/>
        </p:nvSpPr>
        <p:spPr>
          <a:xfrm>
            <a:off x="731520" y="3840480"/>
            <a:ext cx="3337560" cy="1417320"/>
          </a:xfrm>
          <a:prstGeom prst="roundRect">
            <a:avLst/>
          </a:prstGeom>
          <a:solidFill>
            <a:srgbClr val="EF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005072"/>
            <a:ext cx="2971800" cy="1097280"/>
          </a:xfrm>
          <a:prstGeom prst="rect">
            <a:avLst/>
          </a:prstGeom>
          <a:noFill/>
        </p:spPr>
        <p:txBody>
          <a:bodyPr wrap="square">
            <a:spAutoFit/>
          </a:bodyPr>
          <a:lstStyle/>
          <a:p>
            <a:r>
              <a:rPr b="1" sz="1700">
                <a:solidFill>
                  <a:srgbClr val="FFFFFF"/>
                </a:solidFill>
              </a:rPr>
              <a:t>Understand</a:t>
            </a:r>
          </a:p>
          <a:p>
            <a:r>
              <a:rPr sz="1300">
                <a:solidFill>
                  <a:srgbClr val="203628"/>
                </a:solidFill>
              </a:rPr>
              <a:t>What patterns are associated with yield?</a:t>
            </a:r>
          </a:p>
        </p:txBody>
      </p:sp>
      <p:sp>
        <p:nvSpPr>
          <p:cNvPr id="5" name="Rounded Rectangle 4"/>
          <p:cNvSpPr/>
          <p:nvPr/>
        </p:nvSpPr>
        <p:spPr>
          <a:xfrm>
            <a:off x="4434840" y="3840480"/>
            <a:ext cx="3337560" cy="1417320"/>
          </a:xfrm>
          <a:prstGeom prst="roundRect">
            <a:avLst/>
          </a:prstGeom>
          <a:solidFill>
            <a:srgbClr val="EF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4005072"/>
            <a:ext cx="2971800" cy="1097280"/>
          </a:xfrm>
          <a:prstGeom prst="rect">
            <a:avLst/>
          </a:prstGeom>
          <a:noFill/>
        </p:spPr>
        <p:txBody>
          <a:bodyPr wrap="square">
            <a:spAutoFit/>
          </a:bodyPr>
          <a:lstStyle/>
          <a:p>
            <a:r>
              <a:rPr b="1" sz="1700">
                <a:solidFill>
                  <a:srgbClr val="FFFFFF"/>
                </a:solidFill>
              </a:rPr>
              <a:t>Predict</a:t>
            </a:r>
          </a:p>
          <a:p>
            <a:r>
              <a:rPr sz="1300">
                <a:solidFill>
                  <a:srgbClr val="203628"/>
                </a:solidFill>
              </a:rPr>
              <a:t>Can later observations be grouped as Low, Medium or High yield?</a:t>
            </a:r>
          </a:p>
        </p:txBody>
      </p:sp>
      <p:sp>
        <p:nvSpPr>
          <p:cNvPr id="7" name="Rounded Rectangle 6"/>
          <p:cNvSpPr/>
          <p:nvPr/>
        </p:nvSpPr>
        <p:spPr>
          <a:xfrm>
            <a:off x="8138160" y="3840480"/>
            <a:ext cx="3337560" cy="1417320"/>
          </a:xfrm>
          <a:prstGeom prst="roundRect">
            <a:avLst/>
          </a:prstGeom>
          <a:solidFill>
            <a:srgbClr val="EF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4005072"/>
            <a:ext cx="2971800" cy="1097280"/>
          </a:xfrm>
          <a:prstGeom prst="rect">
            <a:avLst/>
          </a:prstGeom>
          <a:noFill/>
        </p:spPr>
        <p:txBody>
          <a:bodyPr wrap="square">
            <a:spAutoFit/>
          </a:bodyPr>
          <a:lstStyle/>
          <a:p>
            <a:r>
              <a:rPr b="1" sz="1700">
                <a:solidFill>
                  <a:srgbClr val="FFFFFF"/>
                </a:solidFill>
              </a:rPr>
              <a:t>Route questions</a:t>
            </a:r>
          </a:p>
          <a:p>
            <a:r>
              <a:rPr sz="1300">
                <a:solidFill>
                  <a:srgbClr val="203628"/>
                </a:solidFill>
              </a:rPr>
              <a:t>Can farmer questions be organized by crop?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1. Business Understanding</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The decision we are trying to support</a:t>
            </a:r>
          </a:p>
        </p:txBody>
      </p:sp>
      <p:sp>
        <p:nvSpPr>
          <p:cNvPr id="4" name="Rounded Rectangle 3"/>
          <p:cNvSpPr/>
          <p:nvPr/>
        </p:nvSpPr>
        <p:spPr>
          <a:xfrm>
            <a:off x="685800" y="1417320"/>
            <a:ext cx="10835640" cy="114300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581912"/>
            <a:ext cx="10469880" cy="822960"/>
          </a:xfrm>
          <a:prstGeom prst="rect">
            <a:avLst/>
          </a:prstGeom>
          <a:noFill/>
        </p:spPr>
        <p:txBody>
          <a:bodyPr wrap="square">
            <a:spAutoFit/>
          </a:bodyPr>
          <a:lstStyle/>
          <a:p>
            <a:r>
              <a:rPr b="1" sz="1700">
                <a:solidFill>
                  <a:srgbClr val="2A6940"/>
                </a:solidFill>
              </a:rPr>
              <a:t>Problem statement</a:t>
            </a:r>
          </a:p>
          <a:p>
            <a:r>
              <a:rPr sz="1300">
                <a:solidFill>
                  <a:srgbClr val="203628"/>
                </a:solidFill>
              </a:rPr>
              <a:t>Agricultural extension and planning teams need a clearer evidence base for understanding where yield patterns vary and where further investigation or support may be needed. Historical agricultural data can be used to examine relationships among rainfall, temperature, pesticide use, crop and area, while a prediction layer can flag later observations by relative yield band.</a:t>
            </a:r>
          </a:p>
        </p:txBody>
      </p:sp>
      <p:sp>
        <p:nvSpPr>
          <p:cNvPr id="6" name="TextBox 5"/>
          <p:cNvSpPr txBox="1"/>
          <p:nvPr/>
        </p:nvSpPr>
        <p:spPr>
          <a:xfrm>
            <a:off x="868680" y="2880360"/>
            <a:ext cx="10241280" cy="2560320"/>
          </a:xfrm>
          <a:prstGeom prst="rect">
            <a:avLst/>
          </a:prstGeom>
          <a:noFill/>
        </p:spPr>
        <p:txBody>
          <a:bodyPr wrap="square">
            <a:spAutoFit/>
          </a:bodyPr>
          <a:lstStyle/>
          <a:p>
            <a:pPr>
              <a:spcAft>
                <a:spcPts val="1000"/>
              </a:spcAft>
              <a:defRPr sz="1900">
                <a:solidFill>
                  <a:srgbClr val="203628"/>
                </a:solidFill>
              </a:defRPr>
            </a:pPr>
            <a:r>
              <a:t>The goal is decision support — not automatic farm management.</a:t>
            </a:r>
          </a:p>
          <a:p>
            <a:pPr>
              <a:spcAft>
                <a:spcPts val="1000"/>
              </a:spcAft>
              <a:defRPr sz="1900">
                <a:solidFill>
                  <a:srgbClr val="203628"/>
                </a:solidFill>
              </a:defRPr>
            </a:pPr>
            <a:r>
              <a:t>Use evidence to identify patterns, flag observations for attention, and organize farmer questions by crop.</a:t>
            </a:r>
          </a:p>
          <a:p>
            <a:pPr>
              <a:spcAft>
                <a:spcPts val="1000"/>
              </a:spcAft>
              <a:defRPr sz="1900">
                <a:solidFill>
                  <a:srgbClr val="203628"/>
                </a:solidFill>
              </a:defRPr>
            </a:pPr>
            <a:r>
              <a:t>Human agricultural expertise remains responsible for interpreting evidence and deciding action.</a:t>
            </a:r>
          </a:p>
        </p:txBody>
      </p:sp>
      <p:sp>
        <p:nvSpPr>
          <p:cNvPr id="7" name="TextBox 6"/>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Agricultural Yield &amp; Farmer Advisory • CRISP-DM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2. Data Understanding</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What information is available?</a:t>
            </a:r>
          </a:p>
        </p:txBody>
      </p:sp>
      <p:sp>
        <p:nvSpPr>
          <p:cNvPr id="4" name="Rounded Rectangle 3"/>
          <p:cNvSpPr/>
          <p:nvPr/>
        </p:nvSpPr>
        <p:spPr>
          <a:xfrm>
            <a:off x="640080" y="1371600"/>
            <a:ext cx="5303520" cy="192024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536192"/>
            <a:ext cx="4937759" cy="1600200"/>
          </a:xfrm>
          <a:prstGeom prst="rect">
            <a:avLst/>
          </a:prstGeom>
          <a:noFill/>
        </p:spPr>
        <p:txBody>
          <a:bodyPr wrap="square">
            <a:spAutoFit/>
          </a:bodyPr>
          <a:lstStyle/>
          <a:p>
            <a:r>
              <a:rPr b="1" sz="1700">
                <a:solidFill>
                  <a:srgbClr val="2A6940"/>
                </a:solidFill>
              </a:rPr>
              <a:t>Structured yield data</a:t>
            </a:r>
          </a:p>
          <a:p>
            <a:r>
              <a:rPr sz="1300">
                <a:solidFill>
                  <a:srgbClr val="203628"/>
                </a:solidFill>
              </a:rPr>
              <a:t>The documentation reports a published merged dataset of 25,932 rows and 7 columns. The notebook demonstration used a 1,800-row demo subset.
Fields include area, year, rainfall, pesticide use, average temperature, crop and yield.</a:t>
            </a:r>
          </a:p>
        </p:txBody>
      </p:sp>
      <p:sp>
        <p:nvSpPr>
          <p:cNvPr id="6" name="Rounded Rectangle 5"/>
          <p:cNvSpPr/>
          <p:nvPr/>
        </p:nvSpPr>
        <p:spPr>
          <a:xfrm>
            <a:off x="6217920" y="1371600"/>
            <a:ext cx="5303520" cy="192024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36192"/>
            <a:ext cx="4937759" cy="1600200"/>
          </a:xfrm>
          <a:prstGeom prst="rect">
            <a:avLst/>
          </a:prstGeom>
          <a:noFill/>
        </p:spPr>
        <p:txBody>
          <a:bodyPr wrap="square">
            <a:spAutoFit/>
          </a:bodyPr>
          <a:lstStyle/>
          <a:p>
            <a:r>
              <a:rPr b="1" sz="1700">
                <a:solidFill>
                  <a:srgbClr val="2A6940"/>
                </a:solidFill>
              </a:rPr>
              <a:t>FarmerChat text data</a:t>
            </a:r>
          </a:p>
          <a:p>
            <a:r>
              <a:rPr sz="1300">
                <a:solidFill>
                  <a:srgbClr val="203628"/>
                </a:solidFill>
              </a:rPr>
              <a:t>The documentation reports 42,709 Q&amp;A pairs overall, including 6,815 from Kenya. The notebook demonstration used 1,500 Kenya demo records.
The main text field is the farmer query; crop is the historical label.</a:t>
            </a:r>
          </a:p>
        </p:txBody>
      </p:sp>
      <p:sp>
        <p:nvSpPr>
          <p:cNvPr id="8" name="Rounded Rectangle 7"/>
          <p:cNvSpPr/>
          <p:nvPr/>
        </p:nvSpPr>
        <p:spPr>
          <a:xfrm>
            <a:off x="640080" y="3703320"/>
            <a:ext cx="10881360" cy="132588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3867911"/>
            <a:ext cx="10515600" cy="1005840"/>
          </a:xfrm>
          <a:prstGeom prst="rect">
            <a:avLst/>
          </a:prstGeom>
          <a:noFill/>
        </p:spPr>
        <p:txBody>
          <a:bodyPr wrap="square">
            <a:spAutoFit/>
          </a:bodyPr>
          <a:lstStyle/>
          <a:p>
            <a:r>
              <a:rPr b="1" sz="1700">
                <a:solidFill>
                  <a:srgbClr val="BF912A"/>
                </a:solidFill>
              </a:rPr>
              <a:t>Important data connection</a:t>
            </a:r>
          </a:p>
          <a:p>
            <a:r>
              <a:rPr sz="1300">
                <a:solidFill>
                  <a:srgbClr val="203628"/>
                </a:solidFill>
              </a:rPr>
              <a:t>The two sources share agricultural concepts such as crop and geography, but they are not linked row-by-row by an individual farm ID. They are therefore treated as separate phases within the same agricultural domain.</a:t>
            </a:r>
          </a:p>
        </p:txBody>
      </p:sp>
      <p:sp>
        <p:nvSpPr>
          <p:cNvPr id="10" name="TextBox 9"/>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Agricultural Yield &amp; Farmer Advisory • CRISP-DM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3. Data Preparation</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Making the information usable and fair for analysis</a:t>
            </a:r>
          </a:p>
        </p:txBody>
      </p:sp>
      <p:sp>
        <p:nvSpPr>
          <p:cNvPr id="4" name="TextBox 3"/>
          <p:cNvSpPr txBox="1"/>
          <p:nvPr/>
        </p:nvSpPr>
        <p:spPr>
          <a:xfrm>
            <a:off x="731520" y="1280160"/>
            <a:ext cx="10789920" cy="4754880"/>
          </a:xfrm>
          <a:prstGeom prst="rect">
            <a:avLst/>
          </a:prstGeom>
          <a:noFill/>
        </p:spPr>
        <p:txBody>
          <a:bodyPr wrap="square">
            <a:spAutoFit/>
          </a:bodyPr>
          <a:lstStyle/>
          <a:p>
            <a:pPr>
              <a:spcAft>
                <a:spcPts val="1000"/>
              </a:spcAft>
              <a:defRPr sz="1800">
                <a:solidFill>
                  <a:srgbClr val="203628"/>
                </a:solidFill>
              </a:defRPr>
            </a:pPr>
            <a:r>
              <a:t>Standardized field names and converted numeric fields to the correct format.</a:t>
            </a:r>
          </a:p>
          <a:p>
            <a:pPr>
              <a:spcAft>
                <a:spcPts val="1000"/>
              </a:spcAft>
              <a:defRPr sz="1800">
                <a:solidFill>
                  <a:srgbClr val="203628"/>
                </a:solidFill>
              </a:defRPr>
            </a:pPr>
            <a:r>
              <a:t>Checked missing values and duplicate rows; the demo yield data had 0 duplicates and no missing values.</a:t>
            </a:r>
          </a:p>
          <a:p>
            <a:pPr>
              <a:spcAft>
                <a:spcPts val="1000"/>
              </a:spcAft>
              <a:defRPr sz="1800">
                <a:solidFill>
                  <a:srgbClr val="203628"/>
                </a:solidFill>
              </a:defRPr>
            </a:pPr>
            <a:r>
              <a:t>Removed records without the yield outcome and treated impossible negative rainfall, pesticide or yield values as invalid.</a:t>
            </a:r>
          </a:p>
          <a:p>
            <a:pPr>
              <a:spcAft>
                <a:spcPts val="1000"/>
              </a:spcAft>
              <a:defRPr sz="1800">
                <a:solidFill>
                  <a:srgbClr val="203628"/>
                </a:solidFill>
              </a:defRPr>
            </a:pPr>
            <a:r>
              <a:t>For prediction, yield was converted into three relative bands: Low, Medium and High.</a:t>
            </a:r>
          </a:p>
          <a:p>
            <a:pPr>
              <a:spcAft>
                <a:spcPts val="1000"/>
              </a:spcAft>
              <a:defRPr sz="1800">
                <a:solidFill>
                  <a:srgbClr val="203628"/>
                </a:solidFill>
              </a:defRPr>
            </a:pPr>
            <a:r>
              <a:t>The yield-band thresholds were calculated from training data only, helping prevent future information from leaking into model training.</a:t>
            </a:r>
          </a:p>
          <a:p>
            <a:pPr>
              <a:spcAft>
                <a:spcPts val="1000"/>
              </a:spcAft>
              <a:defRPr sz="1800">
                <a:solidFill>
                  <a:srgbClr val="203628"/>
                </a:solidFill>
              </a:defRPr>
            </a:pPr>
            <a:r>
              <a:t>Later years were held back for testing rather than randomly mixing past and future observations.</a:t>
            </a:r>
          </a:p>
        </p:txBody>
      </p:sp>
      <p:sp>
        <p:nvSpPr>
          <p:cNvPr id="5" name="TextBox 4"/>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Agricultural Yield &amp; Farmer Advisory • CRISP-DM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4. Exploratory Analysis</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What does the demonstration data show?</a:t>
            </a:r>
          </a:p>
        </p:txBody>
      </p:sp>
      <p:pic>
        <p:nvPicPr>
          <p:cNvPr id="4" name="Picture 3" descr="crop_yield.png"/>
          <p:cNvPicPr>
            <a:picLocks noChangeAspect="1"/>
          </p:cNvPicPr>
          <p:nvPr/>
        </p:nvPicPr>
        <p:blipFill>
          <a:blip r:embed="rId2"/>
          <a:stretch>
            <a:fillRect/>
          </a:stretch>
        </p:blipFill>
        <p:spPr>
          <a:xfrm>
            <a:off x="640080" y="1234440"/>
            <a:ext cx="6492240" cy="3385761"/>
          </a:xfrm>
          <a:prstGeom prst="rect">
            <a:avLst/>
          </a:prstGeom>
        </p:spPr>
      </p:pic>
      <p:sp>
        <p:nvSpPr>
          <p:cNvPr id="5" name="Rounded Rectangle 4"/>
          <p:cNvSpPr/>
          <p:nvPr/>
        </p:nvSpPr>
        <p:spPr>
          <a:xfrm>
            <a:off x="7406640" y="1417320"/>
            <a:ext cx="4114800" cy="123444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19" y="1581912"/>
            <a:ext cx="3749039" cy="914400"/>
          </a:xfrm>
          <a:prstGeom prst="rect">
            <a:avLst/>
          </a:prstGeom>
          <a:noFill/>
        </p:spPr>
        <p:txBody>
          <a:bodyPr wrap="square">
            <a:spAutoFit/>
          </a:bodyPr>
          <a:lstStyle/>
          <a:p>
            <a:r>
              <a:rPr b="1" sz="1700">
                <a:solidFill>
                  <a:srgbClr val="2A6940"/>
                </a:solidFill>
              </a:rPr>
              <a:t>Clear crop differences</a:t>
            </a:r>
          </a:p>
          <a:p>
            <a:r>
              <a:rPr sz="1300">
                <a:solidFill>
                  <a:srgbClr val="203628"/>
                </a:solidFill>
              </a:rPr>
              <a:t>Average observed yield varied substantially across the six crops in the demo data.</a:t>
            </a:r>
          </a:p>
        </p:txBody>
      </p:sp>
      <p:sp>
        <p:nvSpPr>
          <p:cNvPr id="7" name="Rounded Rectangle 6"/>
          <p:cNvSpPr/>
          <p:nvPr/>
        </p:nvSpPr>
        <p:spPr>
          <a:xfrm>
            <a:off x="7406640" y="2880360"/>
            <a:ext cx="4114800" cy="141732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19" y="3044952"/>
            <a:ext cx="3749039" cy="1097280"/>
          </a:xfrm>
          <a:prstGeom prst="rect">
            <a:avLst/>
          </a:prstGeom>
          <a:noFill/>
        </p:spPr>
        <p:txBody>
          <a:bodyPr wrap="square">
            <a:spAutoFit/>
          </a:bodyPr>
          <a:lstStyle/>
          <a:p>
            <a:r>
              <a:rPr b="1" sz="1700">
                <a:solidFill>
                  <a:srgbClr val="2A6940"/>
                </a:solidFill>
              </a:rPr>
              <a:t>Highest in demo</a:t>
            </a:r>
          </a:p>
          <a:p>
            <a:r>
              <a:rPr sz="1300">
                <a:solidFill>
                  <a:srgbClr val="203628"/>
                </a:solidFill>
              </a:rPr>
              <a:t>Potatoes: 17,349 hg/ha average
Sorghum: 5,908 hg/ha average</a:t>
            </a:r>
          </a:p>
        </p:txBody>
      </p:sp>
      <p:sp>
        <p:nvSpPr>
          <p:cNvPr id="9" name="Rounded Rectangle 8"/>
          <p:cNvSpPr/>
          <p:nvPr/>
        </p:nvSpPr>
        <p:spPr>
          <a:xfrm>
            <a:off x="7406640" y="4526280"/>
            <a:ext cx="4114800" cy="123444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19" y="4690872"/>
            <a:ext cx="3749039" cy="914400"/>
          </a:xfrm>
          <a:prstGeom prst="rect">
            <a:avLst/>
          </a:prstGeom>
          <a:noFill/>
        </p:spPr>
        <p:txBody>
          <a:bodyPr wrap="square">
            <a:spAutoFit/>
          </a:bodyPr>
          <a:lstStyle/>
          <a:p>
            <a:r>
              <a:rPr b="1" sz="1700">
                <a:solidFill>
                  <a:srgbClr val="BF912A"/>
                </a:solidFill>
              </a:rPr>
              <a:t>Interpret carefully</a:t>
            </a:r>
          </a:p>
          <a:p>
            <a:r>
              <a:rPr sz="1300">
                <a:solidFill>
                  <a:srgbClr val="203628"/>
                </a:solidFill>
              </a:rPr>
              <a:t>These are observed differences, not proof that crop type alone causes the yield difference.</a:t>
            </a:r>
          </a:p>
        </p:txBody>
      </p:sp>
      <p:sp>
        <p:nvSpPr>
          <p:cNvPr id="11" name="TextBox 10"/>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Phase 1 • Demo subset results from the executed notebook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4. Exploratory Analysis</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Environmental variables: association, not causation</a:t>
            </a:r>
          </a:p>
        </p:txBody>
      </p:sp>
      <p:pic>
        <p:nvPicPr>
          <p:cNvPr id="4" name="Picture 3" descr="associations.png"/>
          <p:cNvPicPr>
            <a:picLocks noChangeAspect="1"/>
          </p:cNvPicPr>
          <p:nvPr/>
        </p:nvPicPr>
        <p:blipFill>
          <a:blip r:embed="rId2"/>
          <a:stretch>
            <a:fillRect/>
          </a:stretch>
        </p:blipFill>
        <p:spPr>
          <a:xfrm>
            <a:off x="640080" y="1280160"/>
            <a:ext cx="6583680" cy="3426823"/>
          </a:xfrm>
          <a:prstGeom prst="rect">
            <a:avLst/>
          </a:prstGeom>
        </p:spPr>
      </p:pic>
      <p:sp>
        <p:nvSpPr>
          <p:cNvPr id="5" name="Rounded Rectangle 4"/>
          <p:cNvSpPr/>
          <p:nvPr/>
        </p:nvSpPr>
        <p:spPr>
          <a:xfrm>
            <a:off x="7452360" y="1325880"/>
            <a:ext cx="4069080" cy="132588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35240" y="1490472"/>
            <a:ext cx="3703320" cy="1005840"/>
          </a:xfrm>
          <a:prstGeom prst="rect">
            <a:avLst/>
          </a:prstGeom>
          <a:noFill/>
        </p:spPr>
        <p:txBody>
          <a:bodyPr wrap="square">
            <a:spAutoFit/>
          </a:bodyPr>
          <a:lstStyle/>
          <a:p>
            <a:r>
              <a:rPr b="1" sz="1700">
                <a:solidFill>
                  <a:srgbClr val="2A6940"/>
                </a:solidFill>
              </a:rPr>
              <a:t>Rainfall showed the strongest association</a:t>
            </a:r>
          </a:p>
          <a:p>
            <a:r>
              <a:rPr sz="1300">
                <a:solidFill>
                  <a:srgbClr val="203628"/>
                </a:solidFill>
              </a:rPr>
              <a:t>Spearman ρ = 0.1903 in the demo data. The relationship is positive but modest.</a:t>
            </a:r>
          </a:p>
        </p:txBody>
      </p:sp>
      <p:sp>
        <p:nvSpPr>
          <p:cNvPr id="7" name="Rounded Rectangle 6"/>
          <p:cNvSpPr/>
          <p:nvPr/>
        </p:nvSpPr>
        <p:spPr>
          <a:xfrm>
            <a:off x="7452360" y="2926080"/>
            <a:ext cx="4069080" cy="132588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35240" y="3090672"/>
            <a:ext cx="3703320" cy="1005840"/>
          </a:xfrm>
          <a:prstGeom prst="rect">
            <a:avLst/>
          </a:prstGeom>
          <a:noFill/>
        </p:spPr>
        <p:txBody>
          <a:bodyPr wrap="square">
            <a:spAutoFit/>
          </a:bodyPr>
          <a:lstStyle/>
          <a:p>
            <a:r>
              <a:rPr b="1" sz="1700">
                <a:solidFill>
                  <a:srgbClr val="2A6940"/>
                </a:solidFill>
              </a:rPr>
              <a:t>Pesticide use</a:t>
            </a:r>
          </a:p>
          <a:p>
            <a:r>
              <a:rPr sz="1300">
                <a:solidFill>
                  <a:srgbClr val="203628"/>
                </a:solidFill>
              </a:rPr>
              <a:t>Spearman ρ = 0.0492. This is a much weaker observed association.</a:t>
            </a:r>
          </a:p>
        </p:txBody>
      </p:sp>
      <p:sp>
        <p:nvSpPr>
          <p:cNvPr id="9" name="Rounded Rectangle 8"/>
          <p:cNvSpPr/>
          <p:nvPr/>
        </p:nvSpPr>
        <p:spPr>
          <a:xfrm>
            <a:off x="7452360" y="4526280"/>
            <a:ext cx="4069080" cy="132588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4690872"/>
            <a:ext cx="3703320" cy="1005840"/>
          </a:xfrm>
          <a:prstGeom prst="rect">
            <a:avLst/>
          </a:prstGeom>
          <a:noFill/>
        </p:spPr>
        <p:txBody>
          <a:bodyPr wrap="square">
            <a:spAutoFit/>
          </a:bodyPr>
          <a:lstStyle/>
          <a:p>
            <a:r>
              <a:rPr b="1" sz="1700">
                <a:solidFill>
                  <a:srgbClr val="BF912A"/>
                </a:solidFill>
              </a:rPr>
              <a:t>What this means</a:t>
            </a:r>
          </a:p>
          <a:p>
            <a:r>
              <a:rPr sz="1300">
                <a:solidFill>
                  <a:srgbClr val="203628"/>
                </a:solidFill>
              </a:rPr>
              <a:t>The analysis identifies relationships worth investigating; it does not establish cause and effect.</a:t>
            </a:r>
          </a:p>
        </p:txBody>
      </p:sp>
      <p:sp>
        <p:nvSpPr>
          <p:cNvPr id="11" name="TextBox 10"/>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Phase 1 • Spearman results from the executed notebook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4. Exploratory Analysis</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Statistical checks strengthen the evidence</a:t>
            </a:r>
          </a:p>
        </p:txBody>
      </p:sp>
      <p:sp>
        <p:nvSpPr>
          <p:cNvPr id="4" name="Rounded Rectangle 3"/>
          <p:cNvSpPr/>
          <p:nvPr/>
        </p:nvSpPr>
        <p:spPr>
          <a:xfrm>
            <a:off x="731520" y="1417320"/>
            <a:ext cx="5212080" cy="192024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81912"/>
            <a:ext cx="4846320" cy="1600200"/>
          </a:xfrm>
          <a:prstGeom prst="rect">
            <a:avLst/>
          </a:prstGeom>
          <a:noFill/>
        </p:spPr>
        <p:txBody>
          <a:bodyPr wrap="square">
            <a:spAutoFit/>
          </a:bodyPr>
          <a:lstStyle/>
          <a:p>
            <a:r>
              <a:rPr b="1" sz="1700">
                <a:solidFill>
                  <a:srgbClr val="2A6940"/>
                </a:solidFill>
              </a:rPr>
              <a:t>Spearman correlation</a:t>
            </a:r>
          </a:p>
          <a:p>
            <a:r>
              <a:rPr sz="1300">
                <a:solidFill>
                  <a:srgbClr val="203628"/>
                </a:solidFill>
              </a:rPr>
              <a:t>Used to test whether numeric variables move consistently with yield. In the demo, rainfall had ρ=0.1903 and p&lt;0.001; pesticide use had ρ=0.0492 and p=0.037.</a:t>
            </a:r>
          </a:p>
        </p:txBody>
      </p:sp>
      <p:sp>
        <p:nvSpPr>
          <p:cNvPr id="6" name="Rounded Rectangle 5"/>
          <p:cNvSpPr/>
          <p:nvPr/>
        </p:nvSpPr>
        <p:spPr>
          <a:xfrm>
            <a:off x="6217920" y="1417320"/>
            <a:ext cx="5212080" cy="192024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81912"/>
            <a:ext cx="4846320" cy="1600200"/>
          </a:xfrm>
          <a:prstGeom prst="rect">
            <a:avLst/>
          </a:prstGeom>
          <a:noFill/>
        </p:spPr>
        <p:txBody>
          <a:bodyPr wrap="square">
            <a:spAutoFit/>
          </a:bodyPr>
          <a:lstStyle/>
          <a:p>
            <a:r>
              <a:rPr b="1" sz="1700">
                <a:solidFill>
                  <a:srgbClr val="2A6940"/>
                </a:solidFill>
              </a:rPr>
              <a:t>Kruskal–Wallis test</a:t>
            </a:r>
          </a:p>
          <a:p>
            <a:r>
              <a:rPr sz="1300">
                <a:solidFill>
                  <a:srgbClr val="203628"/>
                </a:solidFill>
              </a:rPr>
              <a:t>Used to test whether yield distributions differ across crop groups. Demo result: H=1384.586, p≈3.01×10⁻²⁹⁷, indicating a statistical difference somewhere among the crop groups.</a:t>
            </a:r>
          </a:p>
        </p:txBody>
      </p:sp>
      <p:sp>
        <p:nvSpPr>
          <p:cNvPr id="8" name="Rounded Rectangle 7"/>
          <p:cNvSpPr/>
          <p:nvPr/>
        </p:nvSpPr>
        <p:spPr>
          <a:xfrm>
            <a:off x="731520" y="3703320"/>
            <a:ext cx="10698480" cy="123444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867911"/>
            <a:ext cx="10332719" cy="914400"/>
          </a:xfrm>
          <a:prstGeom prst="rect">
            <a:avLst/>
          </a:prstGeom>
          <a:noFill/>
        </p:spPr>
        <p:txBody>
          <a:bodyPr wrap="square">
            <a:spAutoFit/>
          </a:bodyPr>
          <a:lstStyle/>
          <a:p>
            <a:r>
              <a:rPr b="1" sz="1700">
                <a:solidFill>
                  <a:srgbClr val="BF912A"/>
                </a:solidFill>
              </a:rPr>
              <a:t>Stakeholder takeaway</a:t>
            </a:r>
          </a:p>
          <a:p>
            <a:r>
              <a:rPr sz="1300">
                <a:solidFill>
                  <a:srgbClr val="203628"/>
                </a:solidFill>
              </a:rPr>
              <a:t>Crop groups and some measured variables show patterns that deserve attention, but the data alone should not be used to claim that changing one factor will cause a specific yield outcome.</a:t>
            </a:r>
          </a:p>
        </p:txBody>
      </p:sp>
      <p:sp>
        <p:nvSpPr>
          <p:cNvPr id="10" name="TextBox 9"/>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Agricultural Yield &amp; Farmer Advisory • CRISP-DM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5. Modeling</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Turning historical information into a practical flag</a:t>
            </a:r>
          </a:p>
        </p:txBody>
      </p:sp>
      <p:sp>
        <p:nvSpPr>
          <p:cNvPr id="4" name="Rounded Rectangle 3"/>
          <p:cNvSpPr/>
          <p:nvPr/>
        </p:nvSpPr>
        <p:spPr>
          <a:xfrm>
            <a:off x="685800" y="1325880"/>
            <a:ext cx="3429000" cy="182880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90472"/>
            <a:ext cx="3063240" cy="1508760"/>
          </a:xfrm>
          <a:prstGeom prst="rect">
            <a:avLst/>
          </a:prstGeom>
          <a:noFill/>
        </p:spPr>
        <p:txBody>
          <a:bodyPr wrap="square">
            <a:spAutoFit/>
          </a:bodyPr>
          <a:lstStyle/>
          <a:p>
            <a:r>
              <a:rPr b="1" sz="1700">
                <a:solidFill>
                  <a:srgbClr val="2A6940"/>
                </a:solidFill>
              </a:rPr>
              <a:t>Inputs</a:t>
            </a:r>
          </a:p>
          <a:p>
            <a:r>
              <a:rPr sz="1300">
                <a:solidFill>
                  <a:srgbClr val="203628"/>
                </a:solidFill>
              </a:rPr>
              <a:t>Area • Year • Rainfall • Pesticide use • Average temperature • Crop</a:t>
            </a:r>
          </a:p>
        </p:txBody>
      </p:sp>
      <p:sp>
        <p:nvSpPr>
          <p:cNvPr id="6" name="Rounded Rectangle 5"/>
          <p:cNvSpPr/>
          <p:nvPr/>
        </p:nvSpPr>
        <p:spPr>
          <a:xfrm>
            <a:off x="4389120" y="1325880"/>
            <a:ext cx="3429000" cy="182880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490472"/>
            <a:ext cx="3063240" cy="1508760"/>
          </a:xfrm>
          <a:prstGeom prst="rect">
            <a:avLst/>
          </a:prstGeom>
          <a:noFill/>
        </p:spPr>
        <p:txBody>
          <a:bodyPr wrap="square">
            <a:spAutoFit/>
          </a:bodyPr>
          <a:lstStyle/>
          <a:p>
            <a:r>
              <a:rPr b="1" sz="1700">
                <a:solidFill>
                  <a:srgbClr val="2A6940"/>
                </a:solidFill>
              </a:rPr>
              <a:t>Prediction</a:t>
            </a:r>
          </a:p>
          <a:p>
            <a:r>
              <a:rPr sz="1300">
                <a:solidFill>
                  <a:srgbClr val="203628"/>
                </a:solidFill>
              </a:rPr>
              <a:t>Classify a later observation into a relative yield band:
LOW • MEDIUM • HIGH</a:t>
            </a:r>
          </a:p>
        </p:txBody>
      </p:sp>
      <p:sp>
        <p:nvSpPr>
          <p:cNvPr id="8" name="Rounded Rectangle 7"/>
          <p:cNvSpPr/>
          <p:nvPr/>
        </p:nvSpPr>
        <p:spPr>
          <a:xfrm>
            <a:off x="8092440" y="1325880"/>
            <a:ext cx="3429000" cy="182880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19" y="1490472"/>
            <a:ext cx="3063240" cy="1508760"/>
          </a:xfrm>
          <a:prstGeom prst="rect">
            <a:avLst/>
          </a:prstGeom>
          <a:noFill/>
        </p:spPr>
        <p:txBody>
          <a:bodyPr wrap="square">
            <a:spAutoFit/>
          </a:bodyPr>
          <a:lstStyle/>
          <a:p>
            <a:r>
              <a:rPr b="1" sz="1700">
                <a:solidFill>
                  <a:srgbClr val="2A6940"/>
                </a:solidFill>
              </a:rPr>
              <a:t>Use</a:t>
            </a:r>
          </a:p>
          <a:p>
            <a:r>
              <a:rPr sz="1300">
                <a:solidFill>
                  <a:srgbClr val="203628"/>
                </a:solidFill>
              </a:rPr>
              <a:t>Flag observations for further investigation or planning — not automatic intervention.</a:t>
            </a:r>
          </a:p>
        </p:txBody>
      </p:sp>
      <p:sp>
        <p:nvSpPr>
          <p:cNvPr id="10" name="Rounded Rectangle 9"/>
          <p:cNvSpPr/>
          <p:nvPr/>
        </p:nvSpPr>
        <p:spPr>
          <a:xfrm>
            <a:off x="1417320" y="3794760"/>
            <a:ext cx="9326880" cy="123444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3959352"/>
            <a:ext cx="8961119" cy="914400"/>
          </a:xfrm>
          <a:prstGeom prst="rect">
            <a:avLst/>
          </a:prstGeom>
          <a:noFill/>
        </p:spPr>
        <p:txBody>
          <a:bodyPr wrap="square">
            <a:spAutoFit/>
          </a:bodyPr>
          <a:lstStyle/>
          <a:p>
            <a:r>
              <a:rPr b="1" sz="1700">
                <a:solidFill>
                  <a:srgbClr val="BF912A"/>
                </a:solidFill>
              </a:rPr>
              <a:t>Why test on later years?</a:t>
            </a:r>
          </a:p>
          <a:p>
            <a:r>
              <a:rPr sz="1300">
                <a:solidFill>
                  <a:srgbClr val="203628"/>
                </a:solidFill>
              </a:rPr>
              <a:t>The latest 20% of unique years were reserved as the test period, making the evaluation closer to the real question: can earlier information help classify later observations?</a:t>
            </a:r>
          </a:p>
        </p:txBody>
      </p:sp>
      <p:sp>
        <p:nvSpPr>
          <p:cNvPr id="12" name="TextBox 11"/>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Agricultural Yield &amp; Farmer Advisory • CRISP-DM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6. Evaluation</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How well did the yield-band models perform?</a:t>
            </a:r>
          </a:p>
        </p:txBody>
      </p:sp>
      <p:pic>
        <p:nvPicPr>
          <p:cNvPr id="4" name="Picture 3" descr="model_comparison.png"/>
          <p:cNvPicPr>
            <a:picLocks noChangeAspect="1"/>
          </p:cNvPicPr>
          <p:nvPr/>
        </p:nvPicPr>
        <p:blipFill>
          <a:blip r:embed="rId2"/>
          <a:stretch>
            <a:fillRect/>
          </a:stretch>
        </p:blipFill>
        <p:spPr>
          <a:xfrm>
            <a:off x="594360" y="1234440"/>
            <a:ext cx="6583680" cy="3433448"/>
          </a:xfrm>
          <a:prstGeom prst="rect">
            <a:avLst/>
          </a:prstGeom>
        </p:spPr>
      </p:pic>
      <p:sp>
        <p:nvSpPr>
          <p:cNvPr id="5" name="Rounded Rectangle 4"/>
          <p:cNvSpPr/>
          <p:nvPr/>
        </p:nvSpPr>
        <p:spPr>
          <a:xfrm>
            <a:off x="7360920" y="1280160"/>
            <a:ext cx="4160520" cy="132588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43800" y="1444751"/>
            <a:ext cx="3794759" cy="1005840"/>
          </a:xfrm>
          <a:prstGeom prst="rect">
            <a:avLst/>
          </a:prstGeom>
          <a:noFill/>
        </p:spPr>
        <p:txBody>
          <a:bodyPr wrap="square">
            <a:spAutoFit/>
          </a:bodyPr>
          <a:lstStyle/>
          <a:p>
            <a:r>
              <a:rPr b="1" sz="1700">
                <a:solidFill>
                  <a:srgbClr val="2A6940"/>
                </a:solidFill>
              </a:rPr>
              <a:t>Random Forest</a:t>
            </a:r>
          </a:p>
          <a:p>
            <a:r>
              <a:rPr sz="1300">
                <a:solidFill>
                  <a:srgbClr val="203628"/>
                </a:solidFill>
              </a:rPr>
              <a:t>Accuracy: 79.14%
Macro-F1: 78.94%</a:t>
            </a:r>
          </a:p>
        </p:txBody>
      </p:sp>
      <p:sp>
        <p:nvSpPr>
          <p:cNvPr id="7" name="Rounded Rectangle 6"/>
          <p:cNvSpPr/>
          <p:nvPr/>
        </p:nvSpPr>
        <p:spPr>
          <a:xfrm>
            <a:off x="7360920" y="2834640"/>
            <a:ext cx="4160520" cy="141732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43800" y="2999232"/>
            <a:ext cx="3794759" cy="1097280"/>
          </a:xfrm>
          <a:prstGeom prst="rect">
            <a:avLst/>
          </a:prstGeom>
          <a:noFill/>
        </p:spPr>
        <p:txBody>
          <a:bodyPr wrap="square">
            <a:spAutoFit/>
          </a:bodyPr>
          <a:lstStyle/>
          <a:p>
            <a:r>
              <a:rPr b="1" sz="1700">
                <a:solidFill>
                  <a:srgbClr val="BF912A"/>
                </a:solidFill>
              </a:rPr>
              <a:t>What errors remain?</a:t>
            </a:r>
          </a:p>
          <a:p>
            <a:r>
              <a:rPr sz="1300">
                <a:solidFill>
                  <a:srgbClr val="203628"/>
                </a:solidFill>
              </a:rPr>
              <a:t>Low: recall 82%
Medium: recall 71%
High: recall 83%
The Medium band was harder to classify.</a:t>
            </a:r>
          </a:p>
        </p:txBody>
      </p:sp>
      <p:sp>
        <p:nvSpPr>
          <p:cNvPr id="9" name="Rounded Rectangle 8"/>
          <p:cNvSpPr/>
          <p:nvPr/>
        </p:nvSpPr>
        <p:spPr>
          <a:xfrm>
            <a:off x="7360920" y="4480560"/>
            <a:ext cx="4160520" cy="114300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43800" y="4645152"/>
            <a:ext cx="3794759" cy="822960"/>
          </a:xfrm>
          <a:prstGeom prst="rect">
            <a:avLst/>
          </a:prstGeom>
          <a:noFill/>
        </p:spPr>
        <p:txBody>
          <a:bodyPr wrap="square">
            <a:spAutoFit/>
          </a:bodyPr>
          <a:lstStyle/>
          <a:p>
            <a:r>
              <a:rPr b="1" sz="1700">
                <a:solidFill>
                  <a:srgbClr val="2A6940"/>
                </a:solidFill>
              </a:rPr>
              <a:t>Interpretation</a:t>
            </a:r>
          </a:p>
          <a:p>
            <a:r>
              <a:rPr sz="1300">
                <a:solidFill>
                  <a:srgbClr val="203628"/>
                </a:solidFill>
              </a:rPr>
              <a:t>The model is useful as a screening/flagging tool, subject to further validation.</a:t>
            </a:r>
          </a:p>
        </p:txBody>
      </p:sp>
      <p:sp>
        <p:nvSpPr>
          <p:cNvPr id="11" name="TextBox 10"/>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Phase 2 • Held-out later-year demo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5–6. Farmer Query Classification</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Helping teams organize incoming questions</a:t>
            </a:r>
          </a:p>
        </p:txBody>
      </p:sp>
      <p:sp>
        <p:nvSpPr>
          <p:cNvPr id="4" name="Rounded Rectangle 3"/>
          <p:cNvSpPr/>
          <p:nvPr/>
        </p:nvSpPr>
        <p:spPr>
          <a:xfrm>
            <a:off x="731520" y="1371600"/>
            <a:ext cx="3383280" cy="196596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36192"/>
            <a:ext cx="3017520" cy="1645919"/>
          </a:xfrm>
          <a:prstGeom prst="rect">
            <a:avLst/>
          </a:prstGeom>
          <a:noFill/>
        </p:spPr>
        <p:txBody>
          <a:bodyPr wrap="square">
            <a:spAutoFit/>
          </a:bodyPr>
          <a:lstStyle/>
          <a:p>
            <a:r>
              <a:rPr b="1" sz="1700">
                <a:solidFill>
                  <a:srgbClr val="2A6940"/>
                </a:solidFill>
              </a:rPr>
              <a:t>Step 1 — Read</a:t>
            </a:r>
          </a:p>
          <a:p>
            <a:r>
              <a:rPr sz="1300">
                <a:solidFill>
                  <a:srgbClr val="203628"/>
                </a:solidFill>
              </a:rPr>
              <a:t>A farmer submits a written question.</a:t>
            </a:r>
          </a:p>
        </p:txBody>
      </p:sp>
      <p:sp>
        <p:nvSpPr>
          <p:cNvPr id="6" name="Rounded Rectangle 5"/>
          <p:cNvSpPr/>
          <p:nvPr/>
        </p:nvSpPr>
        <p:spPr>
          <a:xfrm>
            <a:off x="4389120" y="1371600"/>
            <a:ext cx="3383280" cy="196596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36192"/>
            <a:ext cx="3017520" cy="1645919"/>
          </a:xfrm>
          <a:prstGeom prst="rect">
            <a:avLst/>
          </a:prstGeom>
          <a:noFill/>
        </p:spPr>
        <p:txBody>
          <a:bodyPr wrap="square">
            <a:spAutoFit/>
          </a:bodyPr>
          <a:lstStyle/>
          <a:p>
            <a:r>
              <a:rPr b="1" sz="1700">
                <a:solidFill>
                  <a:srgbClr val="2A6940"/>
                </a:solidFill>
              </a:rPr>
              <a:t>Step 2 — Classify</a:t>
            </a:r>
          </a:p>
          <a:p>
            <a:r>
              <a:rPr sz="1300">
                <a:solidFill>
                  <a:srgbClr val="203628"/>
                </a:solidFill>
              </a:rPr>
              <a:t>The text model identifies the crop category represented by the historical labels.</a:t>
            </a:r>
          </a:p>
        </p:txBody>
      </p:sp>
      <p:sp>
        <p:nvSpPr>
          <p:cNvPr id="8" name="Rounded Rectangle 7"/>
          <p:cNvSpPr/>
          <p:nvPr/>
        </p:nvSpPr>
        <p:spPr>
          <a:xfrm>
            <a:off x="8046720" y="1371600"/>
            <a:ext cx="3383280" cy="196596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36192"/>
            <a:ext cx="3017520" cy="1645919"/>
          </a:xfrm>
          <a:prstGeom prst="rect">
            <a:avLst/>
          </a:prstGeom>
          <a:noFill/>
        </p:spPr>
        <p:txBody>
          <a:bodyPr wrap="square">
            <a:spAutoFit/>
          </a:bodyPr>
          <a:lstStyle/>
          <a:p>
            <a:r>
              <a:rPr b="1" sz="1700">
                <a:solidFill>
                  <a:srgbClr val="2A6940"/>
                </a:solidFill>
              </a:rPr>
              <a:t>Step 3 — Route</a:t>
            </a:r>
          </a:p>
          <a:p>
            <a:r>
              <a:rPr sz="1300">
                <a:solidFill>
                  <a:srgbClr val="203628"/>
                </a:solidFill>
              </a:rPr>
              <a:t>The question can be directed or summarized for the relevant crop-focused workflow.</a:t>
            </a:r>
          </a:p>
        </p:txBody>
      </p:sp>
      <p:sp>
        <p:nvSpPr>
          <p:cNvPr id="10" name="Rounded Rectangle 9"/>
          <p:cNvSpPr/>
          <p:nvPr/>
        </p:nvSpPr>
        <p:spPr>
          <a:xfrm>
            <a:off x="731520" y="3749039"/>
            <a:ext cx="10698480" cy="123444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13631"/>
            <a:ext cx="10332719" cy="914400"/>
          </a:xfrm>
          <a:prstGeom prst="rect">
            <a:avLst/>
          </a:prstGeom>
          <a:noFill/>
        </p:spPr>
        <p:txBody>
          <a:bodyPr wrap="square">
            <a:spAutoFit/>
          </a:bodyPr>
          <a:lstStyle/>
          <a:p>
            <a:r>
              <a:rPr b="1" sz="1700">
                <a:solidFill>
                  <a:srgbClr val="2A6940"/>
                </a:solidFill>
              </a:rPr>
              <a:t>Demo result</a:t>
            </a:r>
          </a:p>
          <a:p>
            <a:r>
              <a:rPr sz="1300">
                <a:solidFill>
                  <a:srgbClr val="203628"/>
                </a:solidFill>
              </a:rPr>
              <a:t>The executed notebook achieved 100% accuracy and 100% macro-F1 on a 300-record stratified hold-out from the 1,500-record demo dataset.</a:t>
            </a:r>
          </a:p>
        </p:txBody>
      </p:sp>
      <p:sp>
        <p:nvSpPr>
          <p:cNvPr id="12" name="Rounded Rectangle 11"/>
          <p:cNvSpPr/>
          <p:nvPr/>
        </p:nvSpPr>
        <p:spPr>
          <a:xfrm>
            <a:off x="731520" y="5212080"/>
            <a:ext cx="10698480" cy="68580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76672"/>
            <a:ext cx="10332719" cy="365760"/>
          </a:xfrm>
          <a:prstGeom prst="rect">
            <a:avLst/>
          </a:prstGeom>
          <a:noFill/>
        </p:spPr>
        <p:txBody>
          <a:bodyPr wrap="square">
            <a:spAutoFit/>
          </a:bodyPr>
          <a:lstStyle/>
          <a:p>
            <a:r>
              <a:rPr b="1" sz="1700">
                <a:solidFill>
                  <a:srgbClr val="BF912A"/>
                </a:solidFill>
              </a:rPr>
              <a:t>Important boundary</a:t>
            </a:r>
          </a:p>
          <a:p>
            <a:r>
              <a:rPr sz="1300">
                <a:solidFill>
                  <a:srgbClr val="203628"/>
                </a:solidFill>
              </a:rPr>
              <a:t>This is a routing aid. It does not diagnose crop problems or generate agronomic treatment recommendations.</a:t>
            </a:r>
          </a:p>
        </p:txBody>
      </p:sp>
      <p:sp>
        <p:nvSpPr>
          <p:cNvPr id="14" name="TextBox 13"/>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Agricultural Yield &amp; Farmer Advisory • CRISP-DM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7. Communication &amp; Deployment</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What the stakeholder experience could look like</a:t>
            </a:r>
          </a:p>
        </p:txBody>
      </p:sp>
      <p:sp>
        <p:nvSpPr>
          <p:cNvPr id="4" name="Rounded Rectangle 3"/>
          <p:cNvSpPr/>
          <p:nvPr/>
        </p:nvSpPr>
        <p:spPr>
          <a:xfrm>
            <a:off x="640080" y="1325880"/>
            <a:ext cx="3474720" cy="1874519"/>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490472"/>
            <a:ext cx="3108960" cy="1554479"/>
          </a:xfrm>
          <a:prstGeom prst="rect">
            <a:avLst/>
          </a:prstGeom>
          <a:noFill/>
        </p:spPr>
        <p:txBody>
          <a:bodyPr wrap="square">
            <a:spAutoFit/>
          </a:bodyPr>
          <a:lstStyle/>
          <a:p>
            <a:r>
              <a:rPr b="1" sz="1700">
                <a:solidFill>
                  <a:srgbClr val="2A6940"/>
                </a:solidFill>
              </a:rPr>
              <a:t>Dashboard</a:t>
            </a:r>
          </a:p>
          <a:p>
            <a:r>
              <a:rPr sz="1300">
                <a:solidFill>
                  <a:srgbClr val="203628"/>
                </a:solidFill>
              </a:rPr>
              <a:t>Yield overview • crop comparisons • yearly trends • rainfall/temperature/pesticide relationships • filters for area, crop and year</a:t>
            </a:r>
          </a:p>
        </p:txBody>
      </p:sp>
      <p:sp>
        <p:nvSpPr>
          <p:cNvPr id="6" name="Rounded Rectangle 5"/>
          <p:cNvSpPr/>
          <p:nvPr/>
        </p:nvSpPr>
        <p:spPr>
          <a:xfrm>
            <a:off x="4343400" y="1325880"/>
            <a:ext cx="3474720" cy="1874519"/>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490472"/>
            <a:ext cx="3108960" cy="1554479"/>
          </a:xfrm>
          <a:prstGeom prst="rect">
            <a:avLst/>
          </a:prstGeom>
          <a:noFill/>
        </p:spPr>
        <p:txBody>
          <a:bodyPr wrap="square">
            <a:spAutoFit/>
          </a:bodyPr>
          <a:lstStyle/>
          <a:p>
            <a:r>
              <a:rPr b="1" sz="1700">
                <a:solidFill>
                  <a:srgbClr val="2A6940"/>
                </a:solidFill>
              </a:rPr>
              <a:t>Prediction form</a:t>
            </a:r>
          </a:p>
          <a:p>
            <a:r>
              <a:rPr sz="1300">
                <a:solidFill>
                  <a:srgbClr val="203628"/>
                </a:solidFill>
              </a:rPr>
              <a:t>Enter available farm/area conditions and receive a Low, Medium or High yield-band estimate.</a:t>
            </a:r>
          </a:p>
        </p:txBody>
      </p:sp>
      <p:sp>
        <p:nvSpPr>
          <p:cNvPr id="8" name="Rounded Rectangle 7"/>
          <p:cNvSpPr/>
          <p:nvPr/>
        </p:nvSpPr>
        <p:spPr>
          <a:xfrm>
            <a:off x="8046720" y="1325880"/>
            <a:ext cx="3474720" cy="1874519"/>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490472"/>
            <a:ext cx="3108960" cy="1554479"/>
          </a:xfrm>
          <a:prstGeom prst="rect">
            <a:avLst/>
          </a:prstGeom>
          <a:noFill/>
        </p:spPr>
        <p:txBody>
          <a:bodyPr wrap="square">
            <a:spAutoFit/>
          </a:bodyPr>
          <a:lstStyle/>
          <a:p>
            <a:r>
              <a:rPr b="1" sz="1700">
                <a:solidFill>
                  <a:srgbClr val="2A6940"/>
                </a:solidFill>
              </a:rPr>
              <a:t>Question router</a:t>
            </a:r>
          </a:p>
          <a:p>
            <a:r>
              <a:rPr sz="1300">
                <a:solidFill>
                  <a:srgbClr val="203628"/>
                </a:solidFill>
              </a:rPr>
              <a:t>Submit a farmer question and identify the crop category for routing.</a:t>
            </a:r>
          </a:p>
        </p:txBody>
      </p:sp>
      <p:sp>
        <p:nvSpPr>
          <p:cNvPr id="10" name="Rounded Rectangle 9"/>
          <p:cNvSpPr/>
          <p:nvPr/>
        </p:nvSpPr>
        <p:spPr>
          <a:xfrm>
            <a:off x="640080" y="3703320"/>
            <a:ext cx="10881360" cy="146304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867911"/>
            <a:ext cx="10515600" cy="1143000"/>
          </a:xfrm>
          <a:prstGeom prst="rect">
            <a:avLst/>
          </a:prstGeom>
          <a:noFill/>
        </p:spPr>
        <p:txBody>
          <a:bodyPr wrap="square">
            <a:spAutoFit/>
          </a:bodyPr>
          <a:lstStyle/>
          <a:p>
            <a:r>
              <a:rPr b="1" sz="1700">
                <a:solidFill>
                  <a:srgbClr val="BF912A"/>
                </a:solidFill>
              </a:rPr>
              <a:t>Decision-support workflow</a:t>
            </a:r>
          </a:p>
          <a:p>
            <a:r>
              <a:rPr sz="1300">
                <a:solidFill>
                  <a:srgbClr val="203628"/>
                </a:solidFill>
              </a:rPr>
              <a:t>1) Identify patterns → 2) Flag later observations → 3) Route questions → 4) Human expert reviews evidence → 5) Monitor and re-evaluate as new data or regions are introduced.</a:t>
            </a:r>
          </a:p>
        </p:txBody>
      </p:sp>
      <p:sp>
        <p:nvSpPr>
          <p:cNvPr id="12" name="TextBox 11"/>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Agricultural Yield &amp; Farmer Advisory • CRISP-DM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685800"/>
          </a:xfrm>
          <a:prstGeom prst="rect">
            <a:avLst/>
          </a:prstGeom>
          <a:noFill/>
        </p:spPr>
        <p:txBody>
          <a:bodyPr wrap="none">
            <a:spAutoFit/>
          </a:bodyPr>
          <a:lstStyle/>
          <a:p>
            <a:r>
              <a:rPr sz="2800" b="1">
                <a:solidFill>
                  <a:srgbClr val="203628"/>
                </a:solidFill>
              </a:rPr>
              <a:t>8. Conclusions &amp; Limitations</a:t>
            </a:r>
          </a:p>
        </p:txBody>
      </p:sp>
      <p:sp>
        <p:nvSpPr>
          <p:cNvPr id="3" name="TextBox 2"/>
          <p:cNvSpPr txBox="1"/>
          <p:nvPr/>
        </p:nvSpPr>
        <p:spPr>
          <a:xfrm>
            <a:off x="621792" y="960120"/>
            <a:ext cx="10789920" cy="411480"/>
          </a:xfrm>
          <a:prstGeom prst="rect">
            <a:avLst/>
          </a:prstGeom>
          <a:noFill/>
        </p:spPr>
        <p:txBody>
          <a:bodyPr wrap="none">
            <a:spAutoFit/>
          </a:bodyPr>
          <a:lstStyle/>
          <a:p>
            <a:r>
              <a:rPr sz="1300">
                <a:solidFill>
                  <a:srgbClr val="5C645E"/>
                </a:solidFill>
              </a:rPr>
              <a:t>What the team should take forward</a:t>
            </a:r>
          </a:p>
        </p:txBody>
      </p:sp>
      <p:sp>
        <p:nvSpPr>
          <p:cNvPr id="4" name="Rounded Rectangle 3"/>
          <p:cNvSpPr/>
          <p:nvPr/>
        </p:nvSpPr>
        <p:spPr>
          <a:xfrm>
            <a:off x="685800" y="1280160"/>
            <a:ext cx="5257800" cy="2011680"/>
          </a:xfrm>
          <a:prstGeom prst="roundRect">
            <a:avLst/>
          </a:prstGeom>
          <a:solidFill>
            <a:srgbClr val="EFF6F0"/>
          </a:solidFill>
          <a:ln>
            <a:solidFill>
              <a:srgbClr val="2A69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44751"/>
            <a:ext cx="4892040" cy="1691640"/>
          </a:xfrm>
          <a:prstGeom prst="rect">
            <a:avLst/>
          </a:prstGeom>
          <a:noFill/>
        </p:spPr>
        <p:txBody>
          <a:bodyPr wrap="square">
            <a:spAutoFit/>
          </a:bodyPr>
          <a:lstStyle/>
          <a:p>
            <a:r>
              <a:rPr b="1" sz="1700">
                <a:solidFill>
                  <a:srgbClr val="2A6940"/>
                </a:solidFill>
              </a:rPr>
              <a:t>What the project provides</a:t>
            </a:r>
          </a:p>
          <a:p>
            <a:r>
              <a:rPr sz="1300">
                <a:solidFill>
                  <a:srgbClr val="203628"/>
                </a:solidFill>
              </a:rPr>
              <a:t>• A structured CRISP-DM workflow
• Evidence on observed yield patterns
• A time-aware yield-band prediction approach
• A transparent farmer-query routing prototype
• Stakeholder-friendly dashboard and decision-support concepts</a:t>
            </a:r>
          </a:p>
        </p:txBody>
      </p:sp>
      <p:sp>
        <p:nvSpPr>
          <p:cNvPr id="6" name="Rounded Rectangle 5"/>
          <p:cNvSpPr/>
          <p:nvPr/>
        </p:nvSpPr>
        <p:spPr>
          <a:xfrm>
            <a:off x="6217920" y="1280160"/>
            <a:ext cx="5257800" cy="2011680"/>
          </a:xfrm>
          <a:prstGeom prst="roundRect">
            <a:avLst/>
          </a:prstGeom>
          <a:solidFill>
            <a:srgbClr val="EFF6F0"/>
          </a:solidFill>
          <a:ln>
            <a:solidFill>
              <a:srgbClr val="BF9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44751"/>
            <a:ext cx="4892040" cy="1691640"/>
          </a:xfrm>
          <a:prstGeom prst="rect">
            <a:avLst/>
          </a:prstGeom>
          <a:noFill/>
        </p:spPr>
        <p:txBody>
          <a:bodyPr wrap="square">
            <a:spAutoFit/>
          </a:bodyPr>
          <a:lstStyle/>
          <a:p>
            <a:r>
              <a:rPr b="1" sz="1700">
                <a:solidFill>
                  <a:srgbClr val="BF912A"/>
                </a:solidFill>
              </a:rPr>
              <a:t>What it does not provide</a:t>
            </a:r>
          </a:p>
          <a:p>
            <a:r>
              <a:rPr sz="1300">
                <a:solidFill>
                  <a:srgbClr val="203628"/>
                </a:solidFill>
              </a:rPr>
              <a:t>• Causal proof that a factor changes yield
• Individual-farm longitudinal evidence
• Guaranteed future performance
• Automated agronomic diagnosis or treatment advice</a:t>
            </a:r>
          </a:p>
        </p:txBody>
      </p:sp>
      <p:sp>
        <p:nvSpPr>
          <p:cNvPr id="8" name="Rounded Rectangle 7"/>
          <p:cNvSpPr/>
          <p:nvPr/>
        </p:nvSpPr>
        <p:spPr>
          <a:xfrm>
            <a:off x="685800" y="3657600"/>
            <a:ext cx="10789920" cy="1325880"/>
          </a:xfrm>
          <a:prstGeom prst="roundRect">
            <a:avLst/>
          </a:prstGeom>
          <a:solidFill>
            <a:srgbClr val="EFF6F0"/>
          </a:solidFill>
          <a:ln>
            <a:solidFill>
              <a:srgbClr val="A643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822191"/>
            <a:ext cx="10424160" cy="1005840"/>
          </a:xfrm>
          <a:prstGeom prst="rect">
            <a:avLst/>
          </a:prstGeom>
          <a:noFill/>
        </p:spPr>
        <p:txBody>
          <a:bodyPr wrap="square">
            <a:spAutoFit/>
          </a:bodyPr>
          <a:lstStyle/>
          <a:p>
            <a:r>
              <a:rPr b="1" sz="1700">
                <a:solidFill>
                  <a:srgbClr val="A64337"/>
                </a:solidFill>
              </a:rPr>
              <a:t>Important next step</a:t>
            </a:r>
          </a:p>
          <a:p>
            <a:r>
              <a:rPr sz="1300">
                <a:solidFill>
                  <a:srgbClr val="203628"/>
                </a:solidFill>
              </a:rPr>
              <a:t>The supplied notebook demonstration uses demo subsets. The documentation states that the final full-data findings and model metrics should be generated by re-running the workflow on the full datasets before operational use.</a:t>
            </a:r>
          </a:p>
        </p:txBody>
      </p:sp>
      <p:sp>
        <p:nvSpPr>
          <p:cNvPr id="10" name="TextBox 9"/>
          <p:cNvSpPr txBox="1"/>
          <p:nvPr/>
        </p:nvSpPr>
        <p:spPr>
          <a:xfrm>
            <a:off x="594360" y="6473952"/>
            <a:ext cx="10972800" cy="228600"/>
          </a:xfrm>
          <a:prstGeom prst="rect">
            <a:avLst/>
          </a:prstGeom>
          <a:noFill/>
        </p:spPr>
        <p:txBody>
          <a:bodyPr wrap="none">
            <a:spAutoFit/>
          </a:bodyPr>
          <a:lstStyle/>
          <a:p>
            <a:pPr>
              <a:defRPr sz="900">
                <a:solidFill>
                  <a:srgbClr val="5C645E"/>
                </a:solidFill>
              </a:defRPr>
            </a:pPr>
            <a:r>
              <a:t>Agricultural Yield &amp; Farmer Advisory • CRISP-DM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A6940"/>
        </a:solidFill>
        <a:effectLst/>
      </p:bgPr>
    </p:bg>
    <p:spTree>
      <p:nvGrpSpPr>
        <p:cNvPr id="1" name=""/>
        <p:cNvGrpSpPr/>
        <p:nvPr/>
      </p:nvGrpSpPr>
      <p:grpSpPr/>
      <p:sp>
        <p:nvSpPr>
          <p:cNvPr id="2" name="TextBox 1"/>
          <p:cNvSpPr txBox="1"/>
          <p:nvPr/>
        </p:nvSpPr>
        <p:spPr>
          <a:xfrm>
            <a:off x="822960" y="1234440"/>
            <a:ext cx="10515600" cy="914400"/>
          </a:xfrm>
          <a:prstGeom prst="rect">
            <a:avLst/>
          </a:prstGeom>
          <a:noFill/>
        </p:spPr>
        <p:txBody>
          <a:bodyPr wrap="none">
            <a:spAutoFit/>
          </a:bodyPr>
          <a:lstStyle/>
          <a:p>
            <a:pPr>
              <a:defRPr sz="3100" b="1">
                <a:solidFill>
                  <a:srgbClr val="FFFFFF"/>
                </a:solidFill>
              </a:defRPr>
            </a:pPr>
            <a:r>
              <a:t>The key message</a:t>
            </a:r>
          </a:p>
        </p:txBody>
      </p:sp>
      <p:sp>
        <p:nvSpPr>
          <p:cNvPr id="3" name="Rounded Rectangle 2"/>
          <p:cNvSpPr/>
          <p:nvPr/>
        </p:nvSpPr>
        <p:spPr>
          <a:xfrm>
            <a:off x="822960" y="2240280"/>
            <a:ext cx="10515600" cy="1234440"/>
          </a:xfrm>
          <a:prstGeom prst="roundRect">
            <a:avLst/>
          </a:prstGeom>
          <a:solidFill>
            <a:srgbClr val="EF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404872"/>
            <a:ext cx="10149840" cy="914400"/>
          </a:xfrm>
          <a:prstGeom prst="rect">
            <a:avLst/>
          </a:prstGeom>
          <a:noFill/>
        </p:spPr>
        <p:txBody>
          <a:bodyPr wrap="square">
            <a:spAutoFit/>
          </a:bodyPr>
          <a:lstStyle/>
          <a:p>
            <a:r>
              <a:rPr b="1" sz="1700">
                <a:solidFill>
                  <a:srgbClr val="FFFFFF"/>
                </a:solidFill>
              </a:rPr>
              <a:t/>
            </a:r>
          </a:p>
          <a:p>
            <a:r>
              <a:rPr sz="1300">
                <a:solidFill>
                  <a:srgbClr val="203628"/>
                </a:solidFill>
              </a:rPr>
              <a:t>Use agricultural data to identify where attention may be needed, support planning with transparent evidence, and organize farmer questions — while keeping human agricultural expertise at the center.</a:t>
            </a:r>
          </a:p>
        </p:txBody>
      </p:sp>
      <p:sp>
        <p:nvSpPr>
          <p:cNvPr id="5" name="Rounded Rectangle 4"/>
          <p:cNvSpPr/>
          <p:nvPr/>
        </p:nvSpPr>
        <p:spPr>
          <a:xfrm>
            <a:off x="1828800" y="3977639"/>
            <a:ext cx="2423160" cy="1188720"/>
          </a:xfrm>
          <a:prstGeom prst="roundRect">
            <a:avLst/>
          </a:prstGeom>
          <a:solidFill>
            <a:srgbClr val="EF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4142231"/>
            <a:ext cx="2057400" cy="868680"/>
          </a:xfrm>
          <a:prstGeom prst="rect">
            <a:avLst/>
          </a:prstGeom>
          <a:noFill/>
        </p:spPr>
        <p:txBody>
          <a:bodyPr wrap="square">
            <a:spAutoFit/>
          </a:bodyPr>
          <a:lstStyle/>
          <a:p>
            <a:r>
              <a:rPr b="1" sz="1700">
                <a:solidFill>
                  <a:srgbClr val="FFFFFF"/>
                </a:solidFill>
              </a:rPr>
              <a:t>UNDERSTAND</a:t>
            </a:r>
          </a:p>
          <a:p>
            <a:r>
              <a:rPr sz="1300">
                <a:solidFill>
                  <a:srgbClr val="203628"/>
                </a:solidFill>
              </a:rPr>
              <a:t>Find patterns</a:t>
            </a:r>
          </a:p>
        </p:txBody>
      </p:sp>
      <p:sp>
        <p:nvSpPr>
          <p:cNvPr id="7" name="Rounded Rectangle 6"/>
          <p:cNvSpPr/>
          <p:nvPr/>
        </p:nvSpPr>
        <p:spPr>
          <a:xfrm>
            <a:off x="4892040" y="3977639"/>
            <a:ext cx="2423160" cy="1188720"/>
          </a:xfrm>
          <a:prstGeom prst="roundRect">
            <a:avLst/>
          </a:prstGeom>
          <a:solidFill>
            <a:srgbClr val="EF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74920" y="4142231"/>
            <a:ext cx="2057400" cy="868680"/>
          </a:xfrm>
          <a:prstGeom prst="rect">
            <a:avLst/>
          </a:prstGeom>
          <a:noFill/>
        </p:spPr>
        <p:txBody>
          <a:bodyPr wrap="square">
            <a:spAutoFit/>
          </a:bodyPr>
          <a:lstStyle/>
          <a:p>
            <a:r>
              <a:rPr b="1" sz="1700">
                <a:solidFill>
                  <a:srgbClr val="FFFFFF"/>
                </a:solidFill>
              </a:rPr>
              <a:t>PREDICT</a:t>
            </a:r>
          </a:p>
          <a:p>
            <a:r>
              <a:rPr sz="1300">
                <a:solidFill>
                  <a:srgbClr val="203628"/>
                </a:solidFill>
              </a:rPr>
              <a:t>Flag risk bands</a:t>
            </a:r>
          </a:p>
        </p:txBody>
      </p:sp>
      <p:sp>
        <p:nvSpPr>
          <p:cNvPr id="9" name="Rounded Rectangle 8"/>
          <p:cNvSpPr/>
          <p:nvPr/>
        </p:nvSpPr>
        <p:spPr>
          <a:xfrm>
            <a:off x="7955279" y="3977639"/>
            <a:ext cx="2423160" cy="1188720"/>
          </a:xfrm>
          <a:prstGeom prst="roundRect">
            <a:avLst/>
          </a:prstGeom>
          <a:solidFill>
            <a:srgbClr val="EFF6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4142231"/>
            <a:ext cx="2057400" cy="868680"/>
          </a:xfrm>
          <a:prstGeom prst="rect">
            <a:avLst/>
          </a:prstGeom>
          <a:noFill/>
        </p:spPr>
        <p:txBody>
          <a:bodyPr wrap="square">
            <a:spAutoFit/>
          </a:bodyPr>
          <a:lstStyle/>
          <a:p>
            <a:r>
              <a:rPr b="1" sz="1700">
                <a:solidFill>
                  <a:srgbClr val="FFFFFF"/>
                </a:solidFill>
              </a:rPr>
              <a:t>SUPPORT</a:t>
            </a:r>
          </a:p>
          <a:p>
            <a:r>
              <a:rPr sz="1300">
                <a:solidFill>
                  <a:srgbClr val="203628"/>
                </a:solidFill>
              </a:rPr>
              <a:t>Guide human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